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3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895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owned one part of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Susmit built the dataset and prepared it for the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Samiun trained the custom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Sudharshan converted the raw images into a YOLO-compatible classification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Mohan trained the YOLOv11 classification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we move to new Kaggle datasets and stronger pretrained backbones.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32210" y="1344168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22682" y="2420115"/>
            <a:ext cx="2894846" cy="2286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3257" y="219457"/>
            <a:ext cx="628649" cy="575765"/>
          </a:xfrm>
        </p:spPr>
        <p:txBody>
          <a:bodyPr/>
          <a:lstStyle>
            <a:lvl1pPr>
              <a:defRPr sz="2100" b="0" i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00427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866216" y="710940"/>
            <a:ext cx="6571060" cy="546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6824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8" y="2008234"/>
            <a:ext cx="3263267" cy="1712867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03171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3526" y="1952625"/>
            <a:ext cx="3621558" cy="256222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4" y="1952625"/>
            <a:ext cx="3618869" cy="253327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08587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77047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409245"/>
            <a:ext cx="3618869" cy="210560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3" y="1952625"/>
            <a:ext cx="3618870" cy="456619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409245"/>
            <a:ext cx="3618869" cy="210560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65753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12089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0240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60" y="1085850"/>
            <a:ext cx="3892549" cy="3429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4914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1" y="1269999"/>
            <a:ext cx="2895194" cy="1301751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4" y="857250"/>
            <a:ext cx="242039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9821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724459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7" y="4149512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464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97562"/>
            <a:ext cx="6619244" cy="1034816"/>
          </a:xfrm>
        </p:spPr>
        <p:txBody>
          <a:bodyPr anchor="ctr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8518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673721" y="45269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7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278853" y="1960341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72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735388"/>
            <a:ext cx="6345737" cy="2028776"/>
          </a:xfrm>
        </p:spPr>
        <p:txBody>
          <a:bodyPr anchor="ctr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64886"/>
            <a:ext cx="5794329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60795"/>
            <a:ext cx="6619244" cy="759498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05174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1803358"/>
            <a:ext cx="6619244" cy="1341528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940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6833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866216" y="710940"/>
            <a:ext cx="6571060" cy="546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8249"/>
            <a:ext cx="2346876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6" y="2390446"/>
            <a:ext cx="2346876" cy="212984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8249"/>
            <a:ext cx="235903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90446"/>
            <a:ext cx="2359035" cy="212984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5026" y="1952625"/>
            <a:ext cx="2368086" cy="43219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5025" y="2390446"/>
            <a:ext cx="2370772" cy="212984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7537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399634"/>
            <a:ext cx="226555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4" y="1958435"/>
            <a:ext cx="2018432" cy="118782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1"/>
            <a:ext cx="2265559" cy="68846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82130"/>
            <a:ext cx="2018432" cy="116412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6649" y="3831831"/>
            <a:ext cx="2287829" cy="6910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575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64244"/>
            <a:ext cx="2018432" cy="118201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576" y="3831831"/>
            <a:ext cx="2290595" cy="67225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35090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866216" y="710940"/>
            <a:ext cx="6571060" cy="546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83302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73072"/>
            <a:ext cx="1057474" cy="354722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5" y="973072"/>
            <a:ext cx="4685660" cy="35472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2113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016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10940"/>
            <a:ext cx="6571060" cy="546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80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8204" y="479580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10/24/2026</a:t>
            </a:fld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783279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229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896" r:id="rId13"/>
    <p:sldLayoutId id="2147483897" r:id="rId14"/>
    <p:sldLayoutId id="2147483898" r:id="rId15"/>
    <p:sldLayoutId id="2147483899" r:id="rId16"/>
    <p:sldLayoutId id="2147483900" r:id="rId17"/>
    <p:sldLayoutId id="2147483901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Mohan Dev Roy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Samiun Mahamud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Susmit Talukder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Sudharshan Ghosh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02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CLASSIFICATION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CNN &amp; YOLOv11</a:t>
            </a:r>
            <a:endParaRPr lang="en-US" sz="3800" dirty="0"/>
          </a:p>
        </p:txBody>
      </p:sp>
      <p:sp>
        <p:nvSpPr>
          <p:cNvPr id="9" name="Card null"/>
          <p:cNvSpPr/>
          <p:nvPr/>
        </p:nvSpPr>
        <p:spPr>
          <a:xfrm>
            <a:off x="914400" y="2103120"/>
            <a:ext cx="7315200" cy="685800"/>
          </a:xfrm>
          <a:prstGeom prst="roundRect">
            <a:avLst>
              <a:gd name="adj" fmla="val 16000"/>
            </a:avLst>
          </a:prstGeom>
          <a:solidFill>
            <a:srgbClr val="CFE4F7"/>
          </a:solidFill>
          <a:ln w="12700">
            <a:solidFill>
              <a:srgbClr val="7FAFD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097280" y="21031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and comparing two deep learning approaches: a custom CNN and a pretrained YOLOv11 classifier.</a:t>
            </a:r>
            <a:endParaRPr lang="en-US" sz="1500" dirty="0"/>
          </a:p>
        </p:txBody>
      </p:sp>
      <p:sp>
        <p:nvSpPr>
          <p:cNvPr id="11" name="Card null"/>
          <p:cNvSpPr/>
          <p:nvPr/>
        </p:nvSpPr>
        <p:spPr>
          <a:xfrm>
            <a:off x="914400" y="3017520"/>
            <a:ext cx="7315200" cy="685800"/>
          </a:xfrm>
          <a:prstGeom prst="roundRect">
            <a:avLst>
              <a:gd name="adj" fmla="val 16000"/>
            </a:avLst>
          </a:prstGeom>
          <a:solidFill>
            <a:srgbClr val="CFE4F7"/>
          </a:solidFill>
          <a:ln w="12700">
            <a:solidFill>
              <a:srgbClr val="7FAFD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097280" y="30175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work: transfer learning with MobileNetV2, ResNet50 and EfficientNetB0 on new Kaggle datasets.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CONTRIBUTIONS</a:t>
            </a:r>
            <a:endParaRPr lang="en-US" sz="3000" dirty="0"/>
          </a:p>
        </p:txBody>
      </p:sp>
      <p:sp>
        <p:nvSpPr>
          <p:cNvPr id="3" name="Footer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288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Mohan Dev Roy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Samiun Mahamud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Susmit Talukder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Sudharshan Ghosh</a:t>
            </a:r>
            <a:endParaRPr lang="en-US" sz="1200" dirty="0"/>
          </a:p>
        </p:txBody>
      </p:sp>
      <p:sp>
        <p:nvSpPr>
          <p:cNvPr id="9" name="Card null"/>
          <p:cNvSpPr/>
          <p:nvPr/>
        </p:nvSpPr>
        <p:spPr>
          <a:xfrm>
            <a:off x="457200" y="118872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A9CFF0"/>
          </a:solidFill>
          <a:ln w="12700">
            <a:solidFill>
              <a:srgbClr val="7FAFD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Avatar 0"/>
          <p:cNvSpPr/>
          <p:nvPr/>
        </p:nvSpPr>
        <p:spPr>
          <a:xfrm>
            <a:off x="685800" y="1508760"/>
            <a:ext cx="777240" cy="777240"/>
          </a:xfrm>
          <a:prstGeom prst="ellipse">
            <a:avLst/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150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15087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Mohan Dev Roy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model training</a:t>
            </a:r>
            <a:endParaRPr lang="en-US" sz="1400" dirty="0"/>
          </a:p>
        </p:txBody>
      </p:sp>
      <p:sp>
        <p:nvSpPr>
          <p:cNvPr id="14" name="Card null"/>
          <p:cNvSpPr/>
          <p:nvPr/>
        </p:nvSpPr>
        <p:spPr>
          <a:xfrm>
            <a:off x="4663440" y="118872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CFE4F7"/>
          </a:solidFill>
          <a:ln w="12700">
            <a:solidFill>
              <a:srgbClr val="7FAFD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Avatar 1"/>
          <p:cNvSpPr/>
          <p:nvPr/>
        </p:nvSpPr>
        <p:spPr>
          <a:xfrm>
            <a:off x="4892040" y="1508760"/>
            <a:ext cx="777240" cy="777240"/>
          </a:xfrm>
          <a:prstGeom prst="ellipse">
            <a:avLst/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92040" y="150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852160" y="15087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Samiun Mahamud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852160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model training</a:t>
            </a:r>
            <a:endParaRPr lang="en-US" sz="1400" dirty="0"/>
          </a:p>
        </p:txBody>
      </p:sp>
      <p:sp>
        <p:nvSpPr>
          <p:cNvPr id="19" name="Card null"/>
          <p:cNvSpPr/>
          <p:nvPr/>
        </p:nvSpPr>
        <p:spPr>
          <a:xfrm>
            <a:off x="457200" y="283464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A9CFF0"/>
          </a:solidFill>
          <a:ln w="12700">
            <a:solidFill>
              <a:srgbClr val="7FAFD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Avatar 2"/>
          <p:cNvSpPr/>
          <p:nvPr/>
        </p:nvSpPr>
        <p:spPr>
          <a:xfrm>
            <a:off x="685800" y="3154680"/>
            <a:ext cx="777240" cy="777240"/>
          </a:xfrm>
          <a:prstGeom prst="ellipse">
            <a:avLst/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1645920" y="31546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Susmit Talukder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1645920" y="35661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creation &amp; preprocessing</a:t>
            </a:r>
            <a:endParaRPr lang="en-US" sz="1400" dirty="0"/>
          </a:p>
        </p:txBody>
      </p:sp>
      <p:sp>
        <p:nvSpPr>
          <p:cNvPr id="24" name="Card null"/>
          <p:cNvSpPr/>
          <p:nvPr/>
        </p:nvSpPr>
        <p:spPr>
          <a:xfrm>
            <a:off x="4663440" y="283464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CFE4F7"/>
          </a:solidFill>
          <a:ln w="12700">
            <a:solidFill>
              <a:srgbClr val="7FAFD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5" name="Avatar 3"/>
          <p:cNvSpPr/>
          <p:nvPr/>
        </p:nvSpPr>
        <p:spPr>
          <a:xfrm>
            <a:off x="4892040" y="3154680"/>
            <a:ext cx="777240" cy="777240"/>
          </a:xfrm>
          <a:prstGeom prst="ellipse">
            <a:avLst/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92040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5852160" y="31546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Sudharshan Ghosh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5852160" y="35661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dataset &amp; preprocessing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CREATION &amp; PREPROCESSING</a:t>
            </a:r>
            <a:endParaRPr lang="en-US" sz="3000" dirty="0"/>
          </a:p>
        </p:txBody>
      </p:sp>
      <p:sp>
        <p:nvSpPr>
          <p:cNvPr id="3" name="Footer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288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Mohan Dev Roy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Samiun Mahamud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Susmit Talukder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Sudharshan Ghosh</a:t>
            </a:r>
            <a:endParaRPr lang="en-US" sz="1200" dirty="0"/>
          </a:p>
        </p:txBody>
      </p:sp>
      <p:sp>
        <p:nvSpPr>
          <p:cNvPr id="9" name="Card Dataset Creation"/>
          <p:cNvSpPr/>
          <p:nvPr/>
        </p:nvSpPr>
        <p:spPr>
          <a:xfrm>
            <a:off x="457200" y="109728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A9CFF0"/>
          </a:solidFill>
          <a:ln w="12700">
            <a:solidFill>
              <a:srgbClr val="7FAFD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943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Creation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5544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Collected and organised images into class-wise folders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labels are read automatically from folder names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classes balanced with equal samples per class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and cleaned images before training</a:t>
            </a:r>
            <a:endParaRPr lang="en-US" sz="1400" dirty="0"/>
          </a:p>
        </p:txBody>
      </p:sp>
      <p:sp>
        <p:nvSpPr>
          <p:cNvPr id="12" name="Card Preprocessing Pipeline"/>
          <p:cNvSpPr/>
          <p:nvPr/>
        </p:nvSpPr>
        <p:spPr>
          <a:xfrm>
            <a:off x="4846320" y="109728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CFE4F7"/>
          </a:solidFill>
          <a:ln w="12700">
            <a:solidFill>
              <a:srgbClr val="7FAFD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9834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Pipeline</a:t>
            </a:r>
            <a:endParaRPr lang="en-US" sz="1600" dirty="0"/>
          </a:p>
        </p:txBody>
      </p:sp>
      <p:sp>
        <p:nvSpPr>
          <p:cNvPr id="14" name="Step 1"/>
          <p:cNvSpPr/>
          <p:nvPr/>
        </p:nvSpPr>
        <p:spPr>
          <a:xfrm>
            <a:off x="5074920" y="1600200"/>
            <a:ext cx="33832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7FAF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1208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Load images</a:t>
            </a:r>
            <a:endParaRPr lang="en-US" sz="1400" dirty="0"/>
          </a:p>
        </p:txBody>
      </p:sp>
      <p:sp>
        <p:nvSpPr>
          <p:cNvPr id="16" name="Step 2"/>
          <p:cNvSpPr/>
          <p:nvPr/>
        </p:nvSpPr>
        <p:spPr>
          <a:xfrm>
            <a:off x="5074920" y="2258568"/>
            <a:ext cx="33832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7FAF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12080" y="22585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Resize to a fixed size</a:t>
            </a:r>
            <a:endParaRPr lang="en-US" sz="1400" dirty="0"/>
          </a:p>
        </p:txBody>
      </p:sp>
      <p:sp>
        <p:nvSpPr>
          <p:cNvPr id="18" name="Step 3"/>
          <p:cNvSpPr/>
          <p:nvPr/>
        </p:nvSpPr>
        <p:spPr>
          <a:xfrm>
            <a:off x="5074920" y="2916936"/>
            <a:ext cx="33832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7FAF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12080" y="29169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Normalize pixels 0–255 → 0–1</a:t>
            </a:r>
            <a:endParaRPr lang="en-US" sz="1400" dirty="0"/>
          </a:p>
        </p:txBody>
      </p:sp>
      <p:sp>
        <p:nvSpPr>
          <p:cNvPr id="20" name="Step 4"/>
          <p:cNvSpPr/>
          <p:nvPr/>
        </p:nvSpPr>
        <p:spPr>
          <a:xfrm>
            <a:off x="5074920" y="3575304"/>
            <a:ext cx="33832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7FAF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12080" y="35753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Split: train / validation / test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MODEL TRAINING</a:t>
            </a:r>
            <a:endParaRPr lang="en-US" sz="3000" dirty="0"/>
          </a:p>
        </p:txBody>
      </p:sp>
      <p:sp>
        <p:nvSpPr>
          <p:cNvPr id="3" name="Footer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288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Mohan Dev Roy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Samiun Mahamud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Susmit Talukder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Sudharshan Ghosh</a:t>
            </a:r>
            <a:endParaRPr lang="en-US" sz="1200" dirty="0"/>
          </a:p>
        </p:txBody>
      </p:sp>
      <p:sp>
        <p:nvSpPr>
          <p:cNvPr id="9" name="Card Why CNN?"/>
          <p:cNvSpPr/>
          <p:nvPr/>
        </p:nvSpPr>
        <p:spPr>
          <a:xfrm>
            <a:off x="457200" y="109728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A9CFF0"/>
          </a:solidFill>
          <a:ln w="12700">
            <a:solidFill>
              <a:srgbClr val="7FAFD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9436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CNN?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55448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for image feature extraction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learns edges, textures and shapes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1097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Structure</a:t>
            </a:r>
            <a:endParaRPr lang="en-US" sz="1600" dirty="0"/>
          </a:p>
        </p:txBody>
      </p:sp>
      <p:sp>
        <p:nvSpPr>
          <p:cNvPr id="13" name="Layer 0"/>
          <p:cNvSpPr/>
          <p:nvPr/>
        </p:nvSpPr>
        <p:spPr>
          <a:xfrm>
            <a:off x="3474720" y="1645920"/>
            <a:ext cx="1143000" cy="1005840"/>
          </a:xfrm>
          <a:prstGeom prst="roundRect">
            <a:avLst>
              <a:gd name="adj" fmla="val 9091"/>
            </a:avLst>
          </a:prstGeom>
          <a:solidFill>
            <a:srgbClr val="A9CFF0"/>
          </a:solidFill>
          <a:ln w="12700">
            <a:solidFill>
              <a:srgbClr val="7FAF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20440" y="164592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+ Pooling layers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Layer 1"/>
          <p:cNvSpPr/>
          <p:nvPr/>
        </p:nvSpPr>
        <p:spPr>
          <a:xfrm>
            <a:off x="4800600" y="1645920"/>
            <a:ext cx="1143000" cy="1005840"/>
          </a:xfrm>
          <a:prstGeom prst="roundRect">
            <a:avLst>
              <a:gd name="adj" fmla="val 9091"/>
            </a:avLst>
          </a:prstGeom>
          <a:solidFill>
            <a:srgbClr val="CFE4F7"/>
          </a:solidFill>
          <a:ln w="12700">
            <a:solidFill>
              <a:srgbClr val="7FAF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0" y="164592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897880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Layer 2"/>
          <p:cNvSpPr/>
          <p:nvPr/>
        </p:nvSpPr>
        <p:spPr>
          <a:xfrm>
            <a:off x="6126480" y="1645920"/>
            <a:ext cx="1143000" cy="1005840"/>
          </a:xfrm>
          <a:prstGeom prst="roundRect">
            <a:avLst>
              <a:gd name="adj" fmla="val 9091"/>
            </a:avLst>
          </a:prstGeom>
          <a:solidFill>
            <a:srgbClr val="A9CFF0"/>
          </a:solidFill>
          <a:ln w="12700">
            <a:solidFill>
              <a:srgbClr val="7FAF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72200" y="164592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layers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223760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Layer 3"/>
          <p:cNvSpPr/>
          <p:nvPr/>
        </p:nvSpPr>
        <p:spPr>
          <a:xfrm>
            <a:off x="7452360" y="1645920"/>
            <a:ext cx="1143000" cy="1005840"/>
          </a:xfrm>
          <a:prstGeom prst="roundRect">
            <a:avLst>
              <a:gd name="adj" fmla="val 9091"/>
            </a:avLst>
          </a:prstGeom>
          <a:solidFill>
            <a:srgbClr val="CFE4F7"/>
          </a:solidFill>
          <a:ln w="12700">
            <a:solidFill>
              <a:srgbClr val="7FAFD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0" y="164592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 output</a:t>
            </a:r>
            <a:endParaRPr lang="en-US" sz="1200" dirty="0"/>
          </a:p>
        </p:txBody>
      </p:sp>
      <p:sp>
        <p:nvSpPr>
          <p:cNvPr id="24" name="Card Training Setup"/>
          <p:cNvSpPr/>
          <p:nvPr/>
        </p:nvSpPr>
        <p:spPr>
          <a:xfrm>
            <a:off x="3474720" y="2926080"/>
            <a:ext cx="5212080" cy="1463040"/>
          </a:xfrm>
          <a:prstGeom prst="roundRect">
            <a:avLst>
              <a:gd name="adj" fmla="val 7500"/>
            </a:avLst>
          </a:prstGeom>
          <a:solidFill>
            <a:srgbClr val="CFE4F7"/>
          </a:solidFill>
          <a:ln w="12700">
            <a:solidFill>
              <a:srgbClr val="7FAFD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361188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Setup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3657600" y="3383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optimizer with a multi-class loss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data used to monitor overfitting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DATASET &amp; PREPROCESSING</a:t>
            </a:r>
            <a:endParaRPr lang="en-US" sz="3000" dirty="0"/>
          </a:p>
        </p:txBody>
      </p:sp>
      <p:sp>
        <p:nvSpPr>
          <p:cNvPr id="3" name="Footer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288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Mohan Dev Roy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Samiun Mahamud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Susmit Talukder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Sudharshan Ghosh</a:t>
            </a:r>
            <a:endParaRPr lang="en-US" sz="1200" dirty="0"/>
          </a:p>
        </p:txBody>
      </p:sp>
      <p:sp>
        <p:nvSpPr>
          <p:cNvPr id="9" name="Card YOLO Classification Format"/>
          <p:cNvSpPr/>
          <p:nvPr/>
        </p:nvSpPr>
        <p:spPr>
          <a:xfrm>
            <a:off x="457200" y="109728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A9CFF0"/>
          </a:solidFill>
          <a:ln w="12700">
            <a:solidFill>
              <a:srgbClr val="7FAFD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943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Classification Format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5544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name = class label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only, no annotation files</a:t>
            </a:r>
            <a:endParaRPr lang="en-US" sz="1400" dirty="0"/>
          </a:p>
        </p:txBody>
      </p:sp>
      <p:sp>
        <p:nvSpPr>
          <p:cNvPr id="12" name="Code box"/>
          <p:cNvSpPr/>
          <p:nvPr/>
        </p:nvSpPr>
        <p:spPr>
          <a:xfrm>
            <a:off x="640080" y="28803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29260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dataset_yolo/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├── train/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├── val/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└── test/</a:t>
            </a:r>
            <a:endParaRPr lang="en-US" sz="1400" dirty="0"/>
          </a:p>
        </p:txBody>
      </p:sp>
      <p:sp>
        <p:nvSpPr>
          <p:cNvPr id="14" name="Card Preparation Steps"/>
          <p:cNvSpPr/>
          <p:nvPr/>
        </p:nvSpPr>
        <p:spPr>
          <a:xfrm>
            <a:off x="4846320" y="109728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CFE4F7"/>
          </a:solidFill>
          <a:ln w="12700">
            <a:solidFill>
              <a:srgbClr val="7FAFD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9834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Steps</a:t>
            </a:r>
            <a:endParaRPr lang="en-US" sz="1600" dirty="0"/>
          </a:p>
        </p:txBody>
      </p:sp>
      <p:sp>
        <p:nvSpPr>
          <p:cNvPr id="16" name="Prep 1"/>
          <p:cNvSpPr/>
          <p:nvPr/>
        </p:nvSpPr>
        <p:spPr>
          <a:xfrm>
            <a:off x="5074920" y="1645920"/>
            <a:ext cx="33832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7FAF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12080" y="1645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Unzip dataset (class folders)</a:t>
            </a:r>
            <a:endParaRPr lang="en-US" sz="1400" dirty="0"/>
          </a:p>
        </p:txBody>
      </p:sp>
      <p:sp>
        <p:nvSpPr>
          <p:cNvPr id="18" name="Prep 2"/>
          <p:cNvSpPr/>
          <p:nvPr/>
        </p:nvSpPr>
        <p:spPr>
          <a:xfrm>
            <a:off x="5074920" y="2514600"/>
            <a:ext cx="33832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7FAF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12080" y="2514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Auto-split into train / val / test</a:t>
            </a:r>
            <a:endParaRPr lang="en-US" sz="1400" dirty="0"/>
          </a:p>
        </p:txBody>
      </p:sp>
      <p:sp>
        <p:nvSpPr>
          <p:cNvPr id="20" name="Prep 3"/>
          <p:cNvSpPr/>
          <p:nvPr/>
        </p:nvSpPr>
        <p:spPr>
          <a:xfrm>
            <a:off x="5074920" y="3383280"/>
            <a:ext cx="33832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7FAF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12080" y="3383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Verify balanced classes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YOLOv11 MODEL TRAINING</a:t>
            </a:r>
            <a:endParaRPr lang="en-US" sz="3000" dirty="0"/>
          </a:p>
        </p:txBody>
      </p:sp>
      <p:sp>
        <p:nvSpPr>
          <p:cNvPr id="3" name="Footer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288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Mohan Dev Roy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Samiun Mahamud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Susmit Talukder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Sudharshan Ghosh</a:t>
            </a:r>
            <a:endParaRPr lang="en-US" sz="1200" dirty="0"/>
          </a:p>
        </p:txBody>
      </p:sp>
      <p:sp>
        <p:nvSpPr>
          <p:cNvPr id="9" name="Card Model Used"/>
          <p:cNvSpPr/>
          <p:nvPr/>
        </p:nvSpPr>
        <p:spPr>
          <a:xfrm>
            <a:off x="457200" y="109728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A9CFF0"/>
          </a:solidFill>
          <a:ln w="12700">
            <a:solidFill>
              <a:srgbClr val="7FAFD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943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Used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5544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YOLOv11 Nano classification variant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and fast, suitable for real-time use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on ImageNet (transfer learning)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convergence with fewer epochs</a:t>
            </a:r>
            <a:endParaRPr lang="en-US" sz="1400" dirty="0"/>
          </a:p>
        </p:txBody>
      </p:sp>
      <p:sp>
        <p:nvSpPr>
          <p:cNvPr id="12" name="Card Training Workflow"/>
          <p:cNvSpPr/>
          <p:nvPr/>
        </p:nvSpPr>
        <p:spPr>
          <a:xfrm>
            <a:off x="4846320" y="109728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CFE4F7"/>
          </a:solidFill>
          <a:ln w="12700">
            <a:solidFill>
              <a:srgbClr val="7FAFD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9834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Workflow</a:t>
            </a:r>
            <a:endParaRPr lang="en-US" sz="1600" dirty="0"/>
          </a:p>
        </p:txBody>
      </p:sp>
      <p:sp>
        <p:nvSpPr>
          <p:cNvPr id="14" name="Train 1"/>
          <p:cNvSpPr/>
          <p:nvPr/>
        </p:nvSpPr>
        <p:spPr>
          <a:xfrm>
            <a:off x="5074920" y="1600200"/>
            <a:ext cx="33832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7FAF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1208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Load pretrained weights</a:t>
            </a:r>
            <a:endParaRPr lang="en-US" sz="1400" dirty="0"/>
          </a:p>
        </p:txBody>
      </p:sp>
      <p:sp>
        <p:nvSpPr>
          <p:cNvPr id="16" name="Train 2"/>
          <p:cNvSpPr/>
          <p:nvPr/>
        </p:nvSpPr>
        <p:spPr>
          <a:xfrm>
            <a:off x="5074920" y="2258568"/>
            <a:ext cx="33832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7FAF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12080" y="22585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Train on the YOLO dataset</a:t>
            </a:r>
            <a:endParaRPr lang="en-US" sz="1400" dirty="0"/>
          </a:p>
        </p:txBody>
      </p:sp>
      <p:sp>
        <p:nvSpPr>
          <p:cNvPr id="18" name="Train 3"/>
          <p:cNvSpPr/>
          <p:nvPr/>
        </p:nvSpPr>
        <p:spPr>
          <a:xfrm>
            <a:off x="5074920" y="2916936"/>
            <a:ext cx="33832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7FAF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12080" y="29169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Validate each epoch</a:t>
            </a:r>
            <a:endParaRPr lang="en-US" sz="1400" dirty="0"/>
          </a:p>
        </p:txBody>
      </p:sp>
      <p:sp>
        <p:nvSpPr>
          <p:cNvPr id="20" name="Train 4"/>
          <p:cNvSpPr/>
          <p:nvPr/>
        </p:nvSpPr>
        <p:spPr>
          <a:xfrm>
            <a:off x="5074920" y="3575304"/>
            <a:ext cx="33832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7FAF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12080" y="35753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Save best weights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PLAN</a:t>
            </a:r>
            <a:endParaRPr lang="en-US" sz="3000" dirty="0"/>
          </a:p>
        </p:txBody>
      </p:sp>
      <p:sp>
        <p:nvSpPr>
          <p:cNvPr id="3" name="Footer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288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Mohan Dev Roy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Samiun Mahamud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Susmit Talukder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Sudharshan Ghosh</a:t>
            </a:r>
            <a:endParaRPr lang="en-US" sz="1200" dirty="0"/>
          </a:p>
        </p:txBody>
      </p:sp>
      <p:sp>
        <p:nvSpPr>
          <p:cNvPr id="9" name="Card null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CFE4F7"/>
          </a:solidFill>
          <a:ln w="12700">
            <a:solidFill>
              <a:srgbClr val="7FAFD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different datasets from Kaggle and train these transfer learning models on them</a:t>
            </a:r>
            <a:endParaRPr lang="en-US" sz="1500" dirty="0"/>
          </a:p>
        </p:txBody>
      </p:sp>
      <p:sp>
        <p:nvSpPr>
          <p:cNvPr id="11" name="Card null"/>
          <p:cNvSpPr/>
          <p:nvPr/>
        </p:nvSpPr>
        <p:spPr>
          <a:xfrm>
            <a:off x="457200" y="210312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A9CFF0"/>
          </a:solidFill>
          <a:ln w="12700">
            <a:solidFill>
              <a:srgbClr val="7FAFD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9436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Lightweight, built for mobile and edge devices</a:t>
            </a:r>
            <a:endParaRPr lang="en-US" sz="1400" dirty="0"/>
          </a:p>
        </p:txBody>
      </p:sp>
      <p:sp>
        <p:nvSpPr>
          <p:cNvPr id="14" name="Card null"/>
          <p:cNvSpPr/>
          <p:nvPr/>
        </p:nvSpPr>
        <p:spPr>
          <a:xfrm>
            <a:off x="3291840" y="210312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CFE4F7"/>
          </a:solidFill>
          <a:ln w="12700">
            <a:solidFill>
              <a:srgbClr val="7FAFD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4290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residual network with strong feature learning</a:t>
            </a:r>
            <a:endParaRPr lang="en-US" sz="1400" dirty="0"/>
          </a:p>
        </p:txBody>
      </p:sp>
      <p:sp>
        <p:nvSpPr>
          <p:cNvPr id="17" name="Card null"/>
          <p:cNvSpPr/>
          <p:nvPr/>
        </p:nvSpPr>
        <p:spPr>
          <a:xfrm>
            <a:off x="6126480" y="210312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A9CFF0"/>
          </a:solidFill>
          <a:ln w="12700">
            <a:solidFill>
              <a:srgbClr val="7FAFD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6364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EfficientNetB0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accuracy and efficiency through compound scaling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288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Mohan Dev Roy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Samiun Mahamud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Susmit Talukder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46177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Sudharshan Ghosh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14630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are welcome</a:t>
            </a:r>
            <a:endParaRPr lang="en-US" sz="18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</TotalTime>
  <Words>475</Words>
  <Application>Microsoft Office PowerPoint</Application>
  <PresentationFormat>On-screen Show (16:9)</PresentationFormat>
  <Paragraphs>125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Century Gothic</vt:lpstr>
      <vt:lpstr>Courier New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Classification using CNN and YOLOv11</dc:title>
  <dc:subject>PptxGenJS Presentation</dc:subject>
  <dc:creator>PptxGenJS</dc:creator>
  <cp:lastModifiedBy>Mohan Dev Roy</cp:lastModifiedBy>
  <cp:revision>2</cp:revision>
  <dcterms:created xsi:type="dcterms:W3CDTF">2026-10-23T21:14:12Z</dcterms:created>
  <dcterms:modified xsi:type="dcterms:W3CDTF">2026-10-23T21:21:57Z</dcterms:modified>
</cp:coreProperties>
</file>